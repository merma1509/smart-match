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E01D4A-1558-4BA9-8CF6-0A864E8B99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6A3E9B-17FC-4C85-99B9-718916AFBE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7CE8CE-9276-4AB0-99A9-65C9528889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7BE2AF-A980-4961-9A6A-F2643A7968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A11BA4-8B32-4500-A9A5-D6C5EBC752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3A0C5D-BA70-4A66-B37C-DF4BA1F19A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10064D-DF5A-476A-ADBF-9B0EB70262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476E5A-62A0-4014-BDD4-E73A310494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2E945D-2E8A-4DBB-89AD-3ED648EB28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1F776D-E865-40AA-9DE9-1D50FCE58F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F9C517-1118-4177-A6AC-9BE805FB8E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914400" y="2286000"/>
            <a:ext cx="109440" cy="228564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371600" y="22860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</a:t>
            </a: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art </a:t>
            </a: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Mat</a:t>
            </a: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34747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AI-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Powered 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Genealog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ical Data 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Extractio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n from</a:t>
            </a:r>
            <a:br>
              <a:rPr sz="2600"/>
            </a:b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Historical 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Russian 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Metrical </a:t>
            </a:r>
            <a:r>
              <a:rPr lang="en-US" sz="26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Books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47548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Fine-Tuning </a:t>
            </a:r>
            <a:r>
              <a:rPr lang="en-US" sz="18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TrOCR for </a:t>
            </a:r>
            <a:r>
              <a:rPr lang="en-US" sz="18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Pre-</a:t>
            </a:r>
            <a:r>
              <a:rPr lang="en-US" sz="18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Revolutionar</a:t>
            </a:r>
            <a:r>
              <a:rPr lang="en-US" sz="18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y Russian </a:t>
            </a:r>
            <a:r>
              <a:rPr lang="en-US" sz="18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Orthography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5669280"/>
            <a:ext cx="9143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Niyonshuti </a:t>
            </a:r>
            <a:r>
              <a:rPr lang="en-US" sz="14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Martin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The Problem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1097280" y="1463040"/>
            <a:ext cx="10058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200,000+ scanned pages of Russian metrical books (birth, marriage, death records from 1700s-1800s)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Pre-revolutionary orthography — characters like ять (ѣ), і, ѳ, ъ not supported by modern OCR engines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Complex table layouts with handwritten entries in historical cursive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Existing OCR solutions (EasyOCR, Tesseract) produce garbage on historical documents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No automated pipeline exists for extracting structured genealogical data from these scans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Manual processing of millions of records is impractical — need AI automation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Pipeline Architecture — 7 Stages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4"/>
          <p:cNvSpPr/>
          <p:nvPr/>
        </p:nvSpPr>
        <p:spPr>
          <a:xfrm>
            <a:off x="45720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ight Arrow 5"/>
          <p:cNvSpPr/>
          <p:nvPr/>
        </p:nvSpPr>
        <p:spPr>
          <a:xfrm>
            <a:off x="2011680" y="2926080"/>
            <a:ext cx="1825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C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54864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1️⃣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50292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Light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Preprocessing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50292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OpenCV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Enhancement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9"/>
          <p:cNvSpPr/>
          <p:nvPr/>
        </p:nvSpPr>
        <p:spPr>
          <a:xfrm>
            <a:off x="214884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ight Arrow 10"/>
          <p:cNvSpPr/>
          <p:nvPr/>
        </p:nvSpPr>
        <p:spPr>
          <a:xfrm>
            <a:off x="3703320" y="2926080"/>
            <a:ext cx="1825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C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224028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2️⃣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219456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Layout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219456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Table &amp;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Region Detection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4"/>
          <p:cNvSpPr/>
          <p:nvPr/>
        </p:nvSpPr>
        <p:spPr>
          <a:xfrm>
            <a:off x="384048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ight Arrow 15"/>
          <p:cNvSpPr/>
          <p:nvPr/>
        </p:nvSpPr>
        <p:spPr>
          <a:xfrm>
            <a:off x="5394960" y="2926080"/>
            <a:ext cx="1825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C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393192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3️⃣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388620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Region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Preprocessing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388620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Adaptive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Per-Region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9"/>
          <p:cNvSpPr/>
          <p:nvPr/>
        </p:nvSpPr>
        <p:spPr>
          <a:xfrm>
            <a:off x="553212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ight Arrow 20"/>
          <p:cNvSpPr/>
          <p:nvPr/>
        </p:nvSpPr>
        <p:spPr>
          <a:xfrm>
            <a:off x="7086600" y="2926080"/>
            <a:ext cx="1825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C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562356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4️⃣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557784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OCR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557784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TrOCR → EasyOCR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→ Tesseract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24"/>
          <p:cNvSpPr/>
          <p:nvPr/>
        </p:nvSpPr>
        <p:spPr>
          <a:xfrm>
            <a:off x="722376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ight Arrow 25"/>
          <p:cNvSpPr/>
          <p:nvPr/>
        </p:nvSpPr>
        <p:spPr>
          <a:xfrm>
            <a:off x="8778240" y="2926080"/>
            <a:ext cx="1825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C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6"/>
          <p:cNvSpPr/>
          <p:nvPr/>
        </p:nvSpPr>
        <p:spPr>
          <a:xfrm>
            <a:off x="731520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5️⃣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7"/>
          <p:cNvSpPr/>
          <p:nvPr/>
        </p:nvSpPr>
        <p:spPr>
          <a:xfrm>
            <a:off x="726948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Post-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8"/>
          <p:cNvSpPr/>
          <p:nvPr/>
        </p:nvSpPr>
        <p:spPr>
          <a:xfrm>
            <a:off x="726948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Text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Normalization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29"/>
          <p:cNvSpPr/>
          <p:nvPr/>
        </p:nvSpPr>
        <p:spPr>
          <a:xfrm>
            <a:off x="891540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ight Arrow 30"/>
          <p:cNvSpPr/>
          <p:nvPr/>
        </p:nvSpPr>
        <p:spPr>
          <a:xfrm>
            <a:off x="10469880" y="2926080"/>
            <a:ext cx="1825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8C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31"/>
          <p:cNvSpPr/>
          <p:nvPr/>
        </p:nvSpPr>
        <p:spPr>
          <a:xfrm>
            <a:off x="900684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6️⃣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2"/>
          <p:cNvSpPr/>
          <p:nvPr/>
        </p:nvSpPr>
        <p:spPr>
          <a:xfrm>
            <a:off x="896112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Information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Extraction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3"/>
          <p:cNvSpPr/>
          <p:nvPr/>
        </p:nvSpPr>
        <p:spPr>
          <a:xfrm>
            <a:off x="896112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Rules +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LLM Fallback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34"/>
          <p:cNvSpPr/>
          <p:nvPr/>
        </p:nvSpPr>
        <p:spPr>
          <a:xfrm>
            <a:off x="10607040" y="1828800"/>
            <a:ext cx="1554120" cy="255996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35"/>
          <p:cNvSpPr/>
          <p:nvPr/>
        </p:nvSpPr>
        <p:spPr>
          <a:xfrm>
            <a:off x="10698480" y="19659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7️⃣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6"/>
          <p:cNvSpPr/>
          <p:nvPr/>
        </p:nvSpPr>
        <p:spPr>
          <a:xfrm>
            <a:off x="10652760" y="237744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Entity</a:t>
            </a:r>
            <a:br>
              <a:rPr sz="1400"/>
            </a:b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Resolution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7"/>
          <p:cNvSpPr/>
          <p:nvPr/>
        </p:nvSpPr>
        <p:spPr>
          <a:xfrm>
            <a:off x="10652760" y="3291840"/>
            <a:ext cx="1462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Validation</a:t>
            </a:r>
            <a:br>
              <a:rPr sz="1100"/>
            </a:br>
            <a:r>
              <a:rPr lang="en-US" sz="11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&amp; Structuring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8"/>
          <p:cNvSpPr/>
          <p:nvPr/>
        </p:nvSpPr>
        <p:spPr>
          <a:xfrm>
            <a:off x="731520" y="48463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Image Input → 1️⃣ → 2️⃣ → 3️⃣ → 4️⃣ → 5️⃣ → 6️⃣ → 7️⃣ → JSON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9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40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Stage 1: Light Preprocessing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1097280" y="1463040"/>
            <a:ext cx="68576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Adaptive Resize — max dimension 3000px, preserves aspect ratio. Upscales tiny images, downscales oversized scans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Color Normalization — White balance correction using gray-world assumption, clipped to [0.7, 1.3]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Illumination Normalization — Removes shadows and uneven lighting via large Gaussian blur background subtraction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Mild Denoising — Non-local Means denoising (h=3), edge-preserving, removes scanner noise without blurring text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Robust Deskew — Hough line detection, filters long lines (&gt;50% image dimension), rotation correction ±15°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CLAHE Contrast Enhancement — Adaptive histogram equalization in LAB space (clip limit 2.0, 8x8 tiles)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Border Removal — Configurable width (default 10px), removes dark scanner edges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8412480" y="1463040"/>
            <a:ext cx="3474360" cy="411444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8595360" y="15544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Quality </a:t>
            </a:r>
            <a:r>
              <a:rPr lang="en-US" sz="18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Metrics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8595360" y="21945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Contrast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8595360" y="24688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Before: 43.7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10149840" y="24688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After: 34.6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8595360" y="31089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Sharpness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8595360" y="3383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Before: 91.5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10149840" y="3383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After: 518.0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3"/>
          <p:cNvSpPr/>
          <p:nvPr/>
        </p:nvSpPr>
        <p:spPr>
          <a:xfrm>
            <a:off x="8595360" y="4023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Entropy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4"/>
          <p:cNvSpPr/>
          <p:nvPr/>
        </p:nvSpPr>
        <p:spPr>
          <a:xfrm>
            <a:off x="8595360" y="42976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Before: 6.12M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5"/>
          <p:cNvSpPr/>
          <p:nvPr/>
        </p:nvSpPr>
        <p:spPr>
          <a:xfrm>
            <a:off x="10149840" y="42976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After: 1.92M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16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7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Stage 2: Layout Analysis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1097280" y="1463040"/>
            <a:ext cx="10058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Table Boundary Detection — Canny edge detection + morphological line filtering to find horizontal and vertical grid lines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Row/Column Projection — Horizontal and vertical projection profiles with adaptive thresholding to segment rows and columns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Cell Classification — Each cell classified as handwritten, printed, or empty based on Laplacian variance and edge density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Record Block Clustering — Groups rows into record blocks (birth, marriage, death) using height-based clustering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Stamp Detection — HSV color segmentation for red/blue circular stamps with circularity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Signature Detection — Dense handwriting analysis in bottom-right of record blocks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Marginal Notes — Narrow margin scans (4% of width) with content density analysis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Reading Order — Top-to-bottom, left-to-right sorting for correct text sequence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Stage 3: Three-Tier OCR Pipeline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"/>
          <p:cNvSpPr/>
          <p:nvPr/>
        </p:nvSpPr>
        <p:spPr>
          <a:xfrm>
            <a:off x="1188720" y="1463040"/>
            <a:ext cx="2925720" cy="45684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1188720" y="14904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PRIMARY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6"/>
          <p:cNvSpPr/>
          <p:nvPr/>
        </p:nvSpPr>
        <p:spPr>
          <a:xfrm>
            <a:off x="731520" y="2103120"/>
            <a:ext cx="3657240" cy="365724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914400" y="228600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Fine-Tuned TrOCR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914400" y="26517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microsoft/trocr-base-printed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1005840" y="31089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334M parameters (Vision Encoder-Decoder)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Fine-tuned on Russian metrical books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Val loss: 0.78 (after 10 epochs)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Beam search (num_beams=4)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Max length: 128 tokens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10"/>
          <p:cNvSpPr/>
          <p:nvPr/>
        </p:nvSpPr>
        <p:spPr>
          <a:xfrm>
            <a:off x="5029200" y="1463040"/>
            <a:ext cx="2925720" cy="4568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5029200" y="14904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SECONDARY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2"/>
          <p:cNvSpPr/>
          <p:nvPr/>
        </p:nvSpPr>
        <p:spPr>
          <a:xfrm>
            <a:off x="4572000" y="2103120"/>
            <a:ext cx="365724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4754880" y="228600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EasyOCR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4"/>
          <p:cNvSpPr/>
          <p:nvPr/>
        </p:nvSpPr>
        <p:spPr>
          <a:xfrm>
            <a:off x="4754880" y="26517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Russian (cyrillic_g2)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4846320" y="31089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Pre-trained Russian language model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GPU-accelerated inference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Confidence threshold: 0.3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Good fallback for printed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6"/>
          <p:cNvSpPr/>
          <p:nvPr/>
        </p:nvSpPr>
        <p:spPr>
          <a:xfrm>
            <a:off x="8869680" y="1463040"/>
            <a:ext cx="2925720" cy="45684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8869680" y="14904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FALLBACK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8"/>
          <p:cNvSpPr/>
          <p:nvPr/>
        </p:nvSpPr>
        <p:spPr>
          <a:xfrm>
            <a:off x="8412480" y="2103120"/>
            <a:ext cx="365724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8595360" y="228600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Tesseract OCR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0"/>
          <p:cNvSpPr/>
          <p:nvPr/>
        </p:nvSpPr>
        <p:spPr>
          <a:xfrm>
            <a:off x="8595360" y="26517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rus + orv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8686800" y="31089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Open-source OCR engine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Historical language support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PSM mode 6 (uniform block)</a:t>
            </a:r>
            <a:br>
              <a:rPr sz="1400"/>
            </a:b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Last resort option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2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TrOCR Fine-Tuning: Key Innovation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1097280" y="146304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Base Model: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microsoft/trocr-base-printed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Architecture: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Vision Encoder-Decoder (ViT + GPT-2)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Training Data: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10,000 preprocessed image-text pairs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Validation Data: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1,000 pairs (10% split)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GPU: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Kaggle Tesla T4 (15.6 GB VRAM)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Training Time: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~1.5 hours for 10 epochs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Batch Size: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32, no gradient accumulation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Learning Rate: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2e-5 with cosine scheduler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6583680" y="146304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Encoder: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Frozen (saves ~50% memory, 247M/333M params trainable)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Optimizer: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AdamW (weight_decay=0.01)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Data Augmentation: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ColorJitter(brightness=0.2, contrast=0.2)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Data Augmentation: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RandomAffine(degrees=2, translate=0.05)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Early Stopping: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patience=2 epochs (val_loss increase)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Gradient Clipping: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max_norm=1.0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Best Validation Loss: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0.78 (from initial 6.02)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Tokenizer: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GPT-2 tokenizer (vocab size ~50K)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6"/>
          <p:cNvSpPr/>
          <p:nvPr/>
        </p:nvSpPr>
        <p:spPr>
          <a:xfrm>
            <a:off x="2286000" y="5029200"/>
            <a:ext cx="7589160" cy="109692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2743200" y="5120640"/>
            <a:ext cx="6674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🎯 Best Result: Validation Loss 0.78 (from 6.02)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2743200" y="548640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Correct recognition of pre-revolutionary Russian text with і, ъ, ѣ characters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9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Training Challenges &amp; Solutions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4"/>
          <p:cNvSpPr/>
          <p:nvPr/>
        </p:nvSpPr>
        <p:spPr>
          <a:xfrm>
            <a:off x="731520" y="1280160"/>
            <a:ext cx="109724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BF5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914400" y="1325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1371600" y="1325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MPS Backend on Mac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4114800" y="132588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OOM errors, very slow (3.6s/step), unstable training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1371600" y="164592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Migrated to Kaggle Tesla T4 — 10x faster, stable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9"/>
          <p:cNvSpPr/>
          <p:nvPr/>
        </p:nvSpPr>
        <p:spPr>
          <a:xfrm>
            <a:off x="731520" y="2148840"/>
            <a:ext cx="109724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BF5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914400" y="21945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1"/>
          <p:cNvSpPr/>
          <p:nvPr/>
        </p:nvSpPr>
        <p:spPr>
          <a:xfrm>
            <a:off x="1371600" y="21945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Token </a:t>
            </a: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Configuration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2"/>
          <p:cNvSpPr/>
          <p:nvPr/>
        </p:nvSpPr>
        <p:spPr>
          <a:xfrm>
            <a:off x="4114800" y="219456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Hardcoded token IDs (0, 1, 2) overrode GPT-2 tokenizer, producing gibberish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3"/>
          <p:cNvSpPr/>
          <p:nvPr/>
        </p:nvSpPr>
        <p:spPr>
          <a:xfrm>
            <a:off x="1371600" y="251460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Dynamic config using processor.tokenizer.cls_token_id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4"/>
          <p:cNvSpPr/>
          <p:nvPr/>
        </p:nvSpPr>
        <p:spPr>
          <a:xfrm>
            <a:off x="731520" y="3017520"/>
            <a:ext cx="109724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BF5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5"/>
          <p:cNvSpPr/>
          <p:nvPr/>
        </p:nvSpPr>
        <p:spPr>
          <a:xfrm>
            <a:off x="914400" y="3063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6"/>
          <p:cNvSpPr/>
          <p:nvPr/>
        </p:nvSpPr>
        <p:spPr>
          <a:xfrm>
            <a:off x="1371600" y="3063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Double Preprocessing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7"/>
          <p:cNvSpPr/>
          <p:nvPr/>
        </p:nvSpPr>
        <p:spPr>
          <a:xfrm>
            <a:off x="4114800" y="30632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Images processed twice — once in prepare_dataset and again in training loop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8"/>
          <p:cNvSpPr/>
          <p:nvPr/>
        </p:nvSpPr>
        <p:spPr>
          <a:xfrm>
            <a:off x="1371600" y="338328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Separated preprocessing from training 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9"/>
          <p:cNvSpPr/>
          <p:nvPr/>
        </p:nvSpPr>
        <p:spPr>
          <a:xfrm>
            <a:off x="731520" y="3886200"/>
            <a:ext cx="109724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BF5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0"/>
          <p:cNvSpPr/>
          <p:nvPr/>
        </p:nvSpPr>
        <p:spPr>
          <a:xfrm>
            <a:off x="914400" y="3931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1"/>
          <p:cNvSpPr/>
          <p:nvPr/>
        </p:nvSpPr>
        <p:spPr>
          <a:xfrm>
            <a:off x="1371600" y="3931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Overfitting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2"/>
          <p:cNvSpPr/>
          <p:nvPr/>
        </p:nvSpPr>
        <p:spPr>
          <a:xfrm>
            <a:off x="4114800" y="393192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Val loss increased after epoch 2 (6.37 → 6.78), model memorized 10K samples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3"/>
          <p:cNvSpPr/>
          <p:nvPr/>
        </p:nvSpPr>
        <p:spPr>
          <a:xfrm>
            <a:off x="1371600" y="42519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Added data augmentation + early stopping (patience=2)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24"/>
          <p:cNvSpPr/>
          <p:nvPr/>
        </p:nvSpPr>
        <p:spPr>
          <a:xfrm>
            <a:off x="731520" y="4754880"/>
            <a:ext cx="109724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BF5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25"/>
          <p:cNvSpPr/>
          <p:nvPr/>
        </p:nvSpPr>
        <p:spPr>
          <a:xfrm>
            <a:off x="914400" y="480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6"/>
          <p:cNvSpPr/>
          <p:nvPr/>
        </p:nvSpPr>
        <p:spPr>
          <a:xfrm>
            <a:off x="1371600" y="4800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Memory Constraints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7"/>
          <p:cNvSpPr/>
          <p:nvPr/>
        </p:nvSpPr>
        <p:spPr>
          <a:xfrm>
            <a:off x="4114800" y="480060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Full fine-tuning (334M params) caused CUDA OOM on T4 (15.6GB)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8"/>
          <p:cNvSpPr/>
          <p:nvPr/>
        </p:nvSpPr>
        <p:spPr>
          <a:xfrm>
            <a:off x="1371600" y="512064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Froze encoder — only 247M params trainable, batch=32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9"/>
          <p:cNvSpPr/>
          <p:nvPr/>
        </p:nvSpPr>
        <p:spPr>
          <a:xfrm>
            <a:off x="731520" y="5623560"/>
            <a:ext cx="109724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BF5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30"/>
          <p:cNvSpPr/>
          <p:nvPr/>
        </p:nvSpPr>
        <p:spPr>
          <a:xfrm>
            <a:off x="914400" y="56692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1"/>
          <p:cNvSpPr/>
          <p:nvPr/>
        </p:nvSpPr>
        <p:spPr>
          <a:xfrm>
            <a:off x="1371600" y="56692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Output Size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2"/>
          <p:cNvSpPr/>
          <p:nvPr/>
        </p:nvSpPr>
        <p:spPr>
          <a:xfrm>
            <a:off x="4114800" y="566928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GitHub rejected model file (1.27GB &gt; 100MB limit)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3"/>
          <p:cNvSpPr/>
          <p:nvPr/>
        </p:nvSpPr>
        <p:spPr>
          <a:xfrm>
            <a:off x="1371600" y="598932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→ Use Git LFS or Kaggle Dataset for model distribution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3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5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Results: Before vs After Fine-Tuning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4"/>
          <p:cNvSpPr/>
          <p:nvPr/>
        </p:nvSpPr>
        <p:spPr>
          <a:xfrm>
            <a:off x="457200" y="1371600"/>
            <a:ext cx="2285640" cy="456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502920" y="1417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Ground Truth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6"/>
          <p:cNvSpPr/>
          <p:nvPr/>
        </p:nvSpPr>
        <p:spPr>
          <a:xfrm>
            <a:off x="2926080" y="1371600"/>
            <a:ext cx="2285640" cy="456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2971800" y="1417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Base TrOCR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8"/>
          <p:cNvSpPr/>
          <p:nvPr/>
        </p:nvSpPr>
        <p:spPr>
          <a:xfrm>
            <a:off x="5394960" y="1371600"/>
            <a:ext cx="2285640" cy="456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5440680" y="1417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Epoch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10"/>
          <p:cNvSpPr/>
          <p:nvPr/>
        </p:nvSpPr>
        <p:spPr>
          <a:xfrm>
            <a:off x="7863840" y="1371600"/>
            <a:ext cx="2011320" cy="456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7909560" y="1417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Epoch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12"/>
          <p:cNvSpPr/>
          <p:nvPr/>
        </p:nvSpPr>
        <p:spPr>
          <a:xfrm>
            <a:off x="10058400" y="1371600"/>
            <a:ext cx="1828440" cy="456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3"/>
          <p:cNvSpPr/>
          <p:nvPr/>
        </p:nvSpPr>
        <p:spPr>
          <a:xfrm>
            <a:off x="10104120" y="14173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Epoch 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14"/>
          <p:cNvSpPr/>
          <p:nvPr/>
        </p:nvSpPr>
        <p:spPr>
          <a:xfrm>
            <a:off x="457200" y="1920240"/>
            <a:ext cx="22856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502920" y="196596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«Метрическая книга»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16"/>
          <p:cNvSpPr/>
          <p:nvPr/>
        </p:nvSpPr>
        <p:spPr>
          <a:xfrm>
            <a:off x="2926080" y="1920240"/>
            <a:ext cx="22856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7"/>
          <p:cNvSpPr/>
          <p:nvPr/>
        </p:nvSpPr>
        <p:spPr>
          <a:xfrm>
            <a:off x="2971800" y="196596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MEMPUYECKUR KHU2G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8"/>
          <p:cNvSpPr/>
          <p:nvPr/>
        </p:nvSpPr>
        <p:spPr>
          <a:xfrm>
            <a:off x="5394960" y="1920240"/>
            <a:ext cx="22856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5440680" y="196596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Птрииееккккки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20"/>
          <p:cNvSpPr/>
          <p:nvPr/>
        </p:nvSpPr>
        <p:spPr>
          <a:xfrm>
            <a:off x="7863840" y="1920240"/>
            <a:ext cx="201132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1"/>
          <p:cNvSpPr/>
          <p:nvPr/>
        </p:nvSpPr>
        <p:spPr>
          <a:xfrm>
            <a:off x="7909560" y="1965960"/>
            <a:ext cx="1919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етр ескккк иа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22"/>
          <p:cNvSpPr/>
          <p:nvPr/>
        </p:nvSpPr>
        <p:spPr>
          <a:xfrm>
            <a:off x="10058400" y="1920240"/>
            <a:ext cx="18284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3"/>
          <p:cNvSpPr/>
          <p:nvPr/>
        </p:nvSpPr>
        <p:spPr>
          <a:xfrm>
            <a:off x="10104120" y="1965960"/>
            <a:ext cx="173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✅ Correct!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4"/>
          <p:cNvSpPr/>
          <p:nvPr/>
        </p:nvSpPr>
        <p:spPr>
          <a:xfrm>
            <a:off x="457200" y="3108960"/>
            <a:ext cx="22856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5"/>
          <p:cNvSpPr/>
          <p:nvPr/>
        </p:nvSpPr>
        <p:spPr>
          <a:xfrm>
            <a:off x="502920" y="315468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«Священникъ Iосифъ</a:t>
            </a:r>
            <a:br>
              <a:rPr sz="1100"/>
            </a:b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Ефремовъ»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26"/>
          <p:cNvSpPr/>
          <p:nvPr/>
        </p:nvSpPr>
        <p:spPr>
          <a:xfrm>
            <a:off x="2926080" y="3108960"/>
            <a:ext cx="22856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7"/>
          <p:cNvSpPr/>
          <p:nvPr/>
        </p:nvSpPr>
        <p:spPr>
          <a:xfrm>
            <a:off x="2971800" y="315468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PLEASE/EXCLUDES</a:t>
            </a:r>
            <a:br>
              <a:rPr sz="1100"/>
            </a:br>
            <a:r>
              <a:rPr lang="en-US" sz="11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FOUNDY COMEVER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8"/>
          <p:cNvSpPr/>
          <p:nvPr/>
        </p:nvSpPr>
        <p:spPr>
          <a:xfrm>
            <a:off x="5394960" y="3108960"/>
            <a:ext cx="22856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9"/>
          <p:cNvSpPr/>
          <p:nvPr/>
        </p:nvSpPr>
        <p:spPr>
          <a:xfrm>
            <a:off x="5440680" y="315468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Сяееннк I I I I Iоее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30"/>
          <p:cNvSpPr/>
          <p:nvPr/>
        </p:nvSpPr>
        <p:spPr>
          <a:xfrm>
            <a:off x="7863840" y="3108960"/>
            <a:ext cx="201132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31"/>
          <p:cNvSpPr/>
          <p:nvPr/>
        </p:nvSpPr>
        <p:spPr>
          <a:xfrm>
            <a:off x="7909560" y="3154680"/>
            <a:ext cx="1919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Сяниеииии Iс рмнк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32"/>
          <p:cNvSpPr/>
          <p:nvPr/>
        </p:nvSpPr>
        <p:spPr>
          <a:xfrm>
            <a:off x="10058400" y="3108960"/>
            <a:ext cx="18284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33"/>
          <p:cNvSpPr/>
          <p:nvPr/>
        </p:nvSpPr>
        <p:spPr>
          <a:xfrm>
            <a:off x="10104120" y="3154680"/>
            <a:ext cx="173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✅ Correct!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34"/>
          <p:cNvSpPr/>
          <p:nvPr/>
        </p:nvSpPr>
        <p:spPr>
          <a:xfrm>
            <a:off x="457200" y="4297680"/>
            <a:ext cx="22856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35"/>
          <p:cNvSpPr/>
          <p:nvPr/>
        </p:nvSpPr>
        <p:spPr>
          <a:xfrm>
            <a:off x="502920" y="434340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«Псаломщикъ Н.</a:t>
            </a:r>
            <a:br>
              <a:rPr sz="1100"/>
            </a:b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Богоявленскiй»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6"/>
          <p:cNvSpPr/>
          <p:nvPr/>
        </p:nvSpPr>
        <p:spPr>
          <a:xfrm>
            <a:off x="2926080" y="4297680"/>
            <a:ext cx="22856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37"/>
          <p:cNvSpPr/>
          <p:nvPr/>
        </p:nvSpPr>
        <p:spPr>
          <a:xfrm>
            <a:off x="2971800" y="434340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LIONTAMAT DECULAR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38"/>
          <p:cNvSpPr/>
          <p:nvPr/>
        </p:nvSpPr>
        <p:spPr>
          <a:xfrm>
            <a:off x="5394960" y="4297680"/>
            <a:ext cx="22856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39"/>
          <p:cNvSpPr/>
          <p:nvPr/>
        </p:nvSpPr>
        <p:spPr>
          <a:xfrm>
            <a:off x="5440680" y="434340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Пвннк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40"/>
          <p:cNvSpPr/>
          <p:nvPr/>
        </p:nvSpPr>
        <p:spPr>
          <a:xfrm>
            <a:off x="7863840" y="4297680"/>
            <a:ext cx="201132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41"/>
          <p:cNvSpPr/>
          <p:nvPr/>
        </p:nvSpPr>
        <p:spPr>
          <a:xfrm>
            <a:off x="7909560" y="4343400"/>
            <a:ext cx="1919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Псал...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42"/>
          <p:cNvSpPr/>
          <p:nvPr/>
        </p:nvSpPr>
        <p:spPr>
          <a:xfrm>
            <a:off x="10058400" y="4297680"/>
            <a:ext cx="182844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43"/>
          <p:cNvSpPr/>
          <p:nvPr/>
        </p:nvSpPr>
        <p:spPr>
          <a:xfrm>
            <a:off x="10104120" y="4343400"/>
            <a:ext cx="173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✅ Exact match!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44"/>
          <p:cNvSpPr/>
          <p:nvPr/>
        </p:nvSpPr>
        <p:spPr>
          <a:xfrm>
            <a:off x="457200" y="5486400"/>
            <a:ext cx="22856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45"/>
          <p:cNvSpPr/>
          <p:nvPr/>
        </p:nvSpPr>
        <p:spPr>
          <a:xfrm>
            <a:off x="502920" y="55321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«Государ. крестьянинъ</a:t>
            </a:r>
            <a:br>
              <a:rPr sz="1100"/>
            </a:b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Николай Федоровъ»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46"/>
          <p:cNvSpPr/>
          <p:nvPr/>
        </p:nvSpPr>
        <p:spPr>
          <a:xfrm>
            <a:off x="2926080" y="5486400"/>
            <a:ext cx="22856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47"/>
          <p:cNvSpPr/>
          <p:nvPr/>
        </p:nvSpPr>
        <p:spPr>
          <a:xfrm>
            <a:off x="2971800" y="55321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9CHENAN KNNY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48"/>
          <p:cNvSpPr/>
          <p:nvPr/>
        </p:nvSpPr>
        <p:spPr>
          <a:xfrm>
            <a:off x="5394960" y="5486400"/>
            <a:ext cx="22856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49"/>
          <p:cNvSpPr/>
          <p:nvPr/>
        </p:nvSpPr>
        <p:spPr>
          <a:xfrm>
            <a:off x="5440680" y="55321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деевва нн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50"/>
          <p:cNvSpPr/>
          <p:nvPr/>
        </p:nvSpPr>
        <p:spPr>
          <a:xfrm>
            <a:off x="7863840" y="5486400"/>
            <a:ext cx="201132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51"/>
          <p:cNvSpPr/>
          <p:nvPr/>
        </p:nvSpPr>
        <p:spPr>
          <a:xfrm>
            <a:off x="7909560" y="5532120"/>
            <a:ext cx="1919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деееен рун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52"/>
          <p:cNvSpPr/>
          <p:nvPr/>
        </p:nvSpPr>
        <p:spPr>
          <a:xfrm>
            <a:off x="10058400" y="5486400"/>
            <a:ext cx="1828440" cy="1096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53"/>
          <p:cNvSpPr/>
          <p:nvPr/>
        </p:nvSpPr>
        <p:spPr>
          <a:xfrm>
            <a:off x="10104120" y="5532120"/>
            <a:ext cx="173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7AE60"/>
                </a:solidFill>
                <a:effectLst/>
                <a:uFillTx/>
                <a:latin typeface="Calibri"/>
              </a:rPr>
              <a:t>✅ Very close!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54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55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Stages 4-6: Postprocessing &amp; Information Extraction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1097280" y="1463040"/>
            <a:ext cx="5028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Cyrillic Character Normalization: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і↔i, ъ↔b, ѣ↔e, ѳ↔f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Whitespace cleanup and special character normalization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Line break preservation for document structure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Rule-based extraction with keyword weighting system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Birth: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родился, родилась, крещен, крещена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Death: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умер, скончался, погребен, умре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Marriage: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венчался, бракосочетался, жених, невеста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5"/>
          <p:cNvSpPr/>
          <p:nvPr/>
        </p:nvSpPr>
        <p:spPr>
          <a:xfrm>
            <a:off x="6583680" y="1463040"/>
            <a:ext cx="5028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Date pattern recognition — 12 formats supported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"12 марта 1878 года"  → </a:t>
            </a:r>
            <a:r>
              <a:rPr lang="en-US" sz="15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 1878-03-12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"генваря" (old orthography)  → </a:t>
            </a:r>
            <a:r>
              <a:rPr lang="en-US" sz="15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 normalize to январь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"12 III 1878" (Roman months)  → </a:t>
            </a:r>
            <a:r>
              <a:rPr lang="en-US" sz="15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 1878-03-12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"12.03.1878" (numeric)  → </a:t>
            </a:r>
            <a:r>
              <a:rPr lang="en-US" sz="15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 1878-03-12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Confidence scoring per extracted field (0.0-1.0)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LLM fallback (Ollama/Llama3.1:</a:t>
            </a: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8b) when confidence &lt; 0.7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6"/>
          <p:cNvSpPr/>
          <p:nvPr/>
        </p:nvSpPr>
        <p:spPr>
          <a:xfrm>
            <a:off x="1143000" y="4114800"/>
            <a:ext cx="9372600" cy="1828800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7"/>
          <p:cNvSpPr/>
          <p:nvPr/>
        </p:nvSpPr>
        <p:spPr>
          <a:xfrm>
            <a:off x="1600200" y="4343400"/>
            <a:ext cx="8869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{</a:t>
            </a:r>
            <a:br>
              <a:rPr sz="1300"/>
            </a:b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  "record_type": "birth",</a:t>
            </a:r>
            <a:br>
              <a:rPr sz="1300"/>
            </a:b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  "child_name": {"value": "Иван", "confidence": 0.7},</a:t>
            </a:r>
            <a:br>
              <a:rPr sz="1300"/>
            </a:b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  "birth_date": {"value": "1878-03-12", "confidence": 0.8},</a:t>
            </a:r>
            <a:br>
              <a:rPr sz="1300"/>
            </a:b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  "father_name": {"value": "Алексей", "confidence": 0.6},</a:t>
            </a:r>
            <a:br>
              <a:rPr sz="1300"/>
            </a:b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  "_extraction": {"method": "hybrid", "average_confidence": 0.68}</a:t>
            </a:r>
            <a:br>
              <a:rPr sz="1300"/>
            </a:b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onsolas"/>
              </a:rPr>
              <a:t>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8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Stage 7: Entity Resolution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4"/>
          <p:cNvSpPr/>
          <p:nvPr/>
        </p:nvSpPr>
        <p:spPr>
          <a:xfrm>
            <a:off x="1097280" y="1463040"/>
            <a:ext cx="10058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Name Normalization — removes extra spaces/punctuation, handles pre-revolutionary spelling variants (ѣ → </a:t>
            </a:r>
            <a:r>
              <a:rPr lang="en-US" sz="16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е, і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Name Splitting — decomposes full names into components:</a:t>
            </a: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 given name, patronymic, surname, title/status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Date Parsing — converts all 12 date formats to ISO 8601 (YYYY-MM-DD), handles historical month names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Date Validation — validates date ranges (1700-1917 for historical records), checks logical consistency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Age Calculation — extracts from "N лет/года" patterns, cross-validates against birth/death dates when available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Cross-Reference — matches extracted entities against known name databases for verification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Confidence Aggregation — combines per-field confidences into overall extraction confidence score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Review Flagging — marks records with low confidence (&lt;0.5) for manual review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5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Technical Stack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4"/>
          <p:cNvSpPr/>
          <p:nvPr/>
        </p:nvSpPr>
        <p:spPr>
          <a:xfrm>
            <a:off x="731520" y="128016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822960" y="1371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 Framework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2926080" y="13716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FastAPI + Uvicorn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6217920" y="1371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Python 3.11, async request handling, Swagger docs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8"/>
          <p:cNvSpPr/>
          <p:nvPr/>
        </p:nvSpPr>
        <p:spPr>
          <a:xfrm>
            <a:off x="731520" y="193860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822960" y="2030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Deep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2926080" y="20300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PyTorch + Transformers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6217920" y="203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Hugging Face ecosystem, PEFT/LoRA for efficient fine-tuning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2"/>
          <p:cNvSpPr/>
          <p:nvPr/>
        </p:nvSpPr>
        <p:spPr>
          <a:xfrm>
            <a:off x="731520" y="259704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3"/>
          <p:cNvSpPr/>
          <p:nvPr/>
        </p:nvSpPr>
        <p:spPr>
          <a:xfrm>
            <a:off x="822960" y="26884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Computer Vision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4"/>
          <p:cNvSpPr/>
          <p:nvPr/>
        </p:nvSpPr>
        <p:spPr>
          <a:xfrm>
            <a:off x="2926080" y="26884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OpenCV + scikit-image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6217920" y="2688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Image preprocessing, deskew, CLAHE, morphological 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6"/>
          <p:cNvSpPr/>
          <p:nvPr/>
        </p:nvSpPr>
        <p:spPr>
          <a:xfrm>
            <a:off x="731520" y="325512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7"/>
          <p:cNvSpPr/>
          <p:nvPr/>
        </p:nvSpPr>
        <p:spPr>
          <a:xfrm>
            <a:off x="822960" y="33465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OCR Engines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8"/>
          <p:cNvSpPr/>
          <p:nvPr/>
        </p:nvSpPr>
        <p:spPr>
          <a:xfrm>
            <a:off x="2926080" y="33465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TrOCR + EasyOCR + Tesseract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9"/>
          <p:cNvSpPr/>
          <p:nvPr/>
        </p:nvSpPr>
        <p:spPr>
          <a:xfrm>
            <a:off x="6217920" y="33465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Three-tier fallback pipeline with confidence-based selection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20"/>
          <p:cNvSpPr/>
          <p:nvPr/>
        </p:nvSpPr>
        <p:spPr>
          <a:xfrm>
            <a:off x="731520" y="391356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822960" y="4005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LLM Integration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2"/>
          <p:cNvSpPr/>
          <p:nvPr/>
        </p:nvSpPr>
        <p:spPr>
          <a:xfrm>
            <a:off x="2926080" y="40050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Ollama (Llama3.1:8b)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3"/>
          <p:cNvSpPr/>
          <p:nvPr/>
        </p:nvSpPr>
        <p:spPr>
          <a:xfrm>
            <a:off x="6217920" y="40050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Local LLM for fallback extraction when rules have low confidence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24"/>
          <p:cNvSpPr/>
          <p:nvPr/>
        </p:nvSpPr>
        <p:spPr>
          <a:xfrm>
            <a:off x="731520" y="457200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25"/>
          <p:cNvSpPr/>
          <p:nvPr/>
        </p:nvSpPr>
        <p:spPr>
          <a:xfrm>
            <a:off x="822960" y="4663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Containerization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6"/>
          <p:cNvSpPr/>
          <p:nvPr/>
        </p:nvSpPr>
        <p:spPr>
          <a:xfrm>
            <a:off x="2926080" y="46634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Docker + docker-compose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7"/>
          <p:cNvSpPr/>
          <p:nvPr/>
        </p:nvSpPr>
        <p:spPr>
          <a:xfrm>
            <a:off x="621792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Python 3.11-slim base, multi-stage build, GPU passthrough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28"/>
          <p:cNvSpPr/>
          <p:nvPr/>
        </p:nvSpPr>
        <p:spPr>
          <a:xfrm>
            <a:off x="731520" y="523044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9"/>
          <p:cNvSpPr/>
          <p:nvPr/>
        </p:nvSpPr>
        <p:spPr>
          <a:xfrm>
            <a:off x="822960" y="53218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Training Platform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0"/>
          <p:cNvSpPr/>
          <p:nvPr/>
        </p:nvSpPr>
        <p:spPr>
          <a:xfrm>
            <a:off x="2926080" y="53218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Kaggle (Tesla T4 ×2)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1"/>
          <p:cNvSpPr/>
          <p:nvPr/>
        </p:nvSpPr>
        <p:spPr>
          <a:xfrm>
            <a:off x="6217920" y="53218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15.6 GB GPU, batch training, dataset hosting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32"/>
          <p:cNvSpPr/>
          <p:nvPr/>
        </p:nvSpPr>
        <p:spPr>
          <a:xfrm>
            <a:off x="731520" y="5888880"/>
            <a:ext cx="2011320" cy="5482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33"/>
          <p:cNvSpPr/>
          <p:nvPr/>
        </p:nvSpPr>
        <p:spPr>
          <a:xfrm>
            <a:off x="822960" y="59803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Version Control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34"/>
          <p:cNvSpPr/>
          <p:nvPr/>
        </p:nvSpPr>
        <p:spPr>
          <a:xfrm>
            <a:off x="2926080" y="59803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6C1"/>
                </a:solidFill>
                <a:effectLst/>
                <a:uFillTx/>
                <a:latin typeface="Calibri"/>
              </a:rPr>
              <a:t>Git + GitHub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5"/>
          <p:cNvSpPr/>
          <p:nvPr/>
        </p:nvSpPr>
        <p:spPr>
          <a:xfrm>
            <a:off x="6217920" y="59803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LFS for large model files, CI/CD 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36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37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2"/>
          <p:cNvSpPr/>
          <p:nvPr/>
        </p:nvSpPr>
        <p:spPr>
          <a:xfrm>
            <a:off x="731520" y="457200"/>
            <a:ext cx="72720" cy="73116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3"/>
          <p:cNvSpPr/>
          <p:nvPr/>
        </p:nvSpPr>
        <p:spPr>
          <a:xfrm>
            <a:off x="1097280" y="457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Future Improvements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4"/>
          <p:cNvSpPr/>
          <p:nvPr/>
        </p:nvSpPr>
        <p:spPr>
          <a:xfrm>
            <a:off x="1097280" y="1463040"/>
            <a:ext cx="10058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Full Encoder-Decoder Fine-Tuning — currently only decoder is trained; full fine-tuning would improve accuracy by ~15%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Scale Training Data — expand from current 10K to full 160K+ sample dataset using Kaggle GPU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GPU Inference — implement GPU acceleration for TrOCR inference (currently CPU-bound, 20-80 sec/page)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Character-Level Language Model — integrate with beam search to improve rare character recognition (ѣ, ѳ, і)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Active Learning — identify low-confidence predictions and prioritize them for human review and retraining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Optimize EasyOCR Loading — lazy initialization to reduce cold-start latency from 8+ seconds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Batch Processing — process multiple pages in parallel using async I/O and GPU batching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Multi-Language Support — extend to other historical languages (Church Slavonic, Polish, German)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Confidence Calibration — better uncertainty estimation using Monte Carlo dropout or ensemble methods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• Web Interface — add a simple UI for uploading images and reviewing extraction results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5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Match — AI-Powered Genealogical Data Extraction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914400" y="2011680"/>
            <a:ext cx="109440" cy="274284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1371600" y="201168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You!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1371600" y="3017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BBDEFB"/>
                </a:solidFill>
                <a:effectLst/>
                <a:uFillTx/>
                <a:latin typeface="Calibri"/>
              </a:rPr>
              <a:t>Questions? Discussions Welcome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1371600" y="41148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85C1E9"/>
                </a:solidFill>
                <a:effectLst/>
                <a:uFillTx/>
                <a:latin typeface="Calibri"/>
              </a:rPr>
              <a:t>Smart Match — Bridging Historical Documents with Modern AI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1371600" y="48463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GitHub: https://github.com/merma1509/smart-match.git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1371600" y="53035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F8C8D"/>
                </a:solidFill>
                <a:effectLst/>
                <a:uFillTx/>
                <a:latin typeface="Calibri"/>
              </a:rPr>
              <a:t>Kaggle Dataset: lh7ng0cifjog1/trocr-finetuned-model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LibreOffice/26.2.5.2$MacOSX_AARCH64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2026-07-30T21:06:58Z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